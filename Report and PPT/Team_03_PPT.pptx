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70" r:id="rId2"/>
    <p:sldId id="257" r:id="rId3"/>
    <p:sldId id="258" r:id="rId4"/>
    <p:sldId id="259" r:id="rId5"/>
    <p:sldId id="260" r:id="rId6"/>
    <p:sldId id="261" r:id="rId7"/>
    <p:sldId id="262" r:id="rId8"/>
    <p:sldId id="263" r:id="rId9"/>
    <p:sldId id="265" r:id="rId10"/>
    <p:sldId id="266" r:id="rId11"/>
    <p:sldId id="267" r:id="rId12"/>
    <p:sldId id="268" r:id="rId13"/>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5" d="100"/>
          <a:sy n="75" d="100"/>
        </p:scale>
        <p:origin x="1666" y="12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8AF92865-2A17-4EF8-A400-94B9A4F24184}" type="datetimeFigureOut">
              <a:rPr lang="en-IN" smtClean="0"/>
              <a:t>30-04-2026</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1172ADE4-7E8B-4E52-8E4E-3A578DABF19C}" type="slidenum">
              <a:rPr lang="en-IN" smtClean="0"/>
              <a:t>‹#›</a:t>
            </a:fld>
            <a:endParaRPr lang="en-IN"/>
          </a:p>
        </p:txBody>
      </p:sp>
    </p:spTree>
    <p:extLst>
      <p:ext uri="{BB962C8B-B14F-4D97-AF65-F5344CB8AC3E}">
        <p14:creationId xmlns:p14="http://schemas.microsoft.com/office/powerpoint/2010/main" val="56374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564037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4.jpg"/><Relationship Id="rId5" Type="http://schemas.openxmlformats.org/officeDocument/2006/relationships/slideLayout" Target="../slideLayouts/slideLayout5.xml"/><Relationship Id="rId10" Type="http://schemas.openxmlformats.org/officeDocument/2006/relationships/image" Target="../media/image3.jpg"/><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838200"/>
          </a:xfrm>
          <a:custGeom>
            <a:avLst/>
            <a:gdLst/>
            <a:ahLst/>
            <a:cxnLst/>
            <a:rect l="l" t="t" r="r" b="b"/>
            <a:pathLst>
              <a:path w="9144000" h="838200">
                <a:moveTo>
                  <a:pt x="9144000" y="0"/>
                </a:moveTo>
                <a:lnTo>
                  <a:pt x="0" y="0"/>
                </a:lnTo>
                <a:lnTo>
                  <a:pt x="0" y="838200"/>
                </a:lnTo>
                <a:lnTo>
                  <a:pt x="9144000" y="838200"/>
                </a:lnTo>
                <a:lnTo>
                  <a:pt x="9144000" y="0"/>
                </a:lnTo>
                <a:close/>
              </a:path>
            </a:pathLst>
          </a:custGeom>
          <a:solidFill>
            <a:srgbClr val="FF3300"/>
          </a:solidFill>
        </p:spPr>
        <p:txBody>
          <a:bodyPr wrap="square" lIns="0" tIns="0" rIns="0" bIns="0" rtlCol="0"/>
          <a:lstStyle/>
          <a:p>
            <a:endParaRPr/>
          </a:p>
        </p:txBody>
      </p:sp>
      <p:pic>
        <p:nvPicPr>
          <p:cNvPr id="17" name="bg object 17"/>
          <p:cNvPicPr/>
          <p:nvPr/>
        </p:nvPicPr>
        <p:blipFill>
          <a:blip r:embed="rId8" cstate="print"/>
          <a:stretch>
            <a:fillRect/>
          </a:stretch>
        </p:blipFill>
        <p:spPr>
          <a:xfrm>
            <a:off x="0" y="6701027"/>
            <a:ext cx="9143238" cy="156210"/>
          </a:xfrm>
          <a:prstGeom prst="rect">
            <a:avLst/>
          </a:prstGeom>
        </p:spPr>
      </p:pic>
      <p:pic>
        <p:nvPicPr>
          <p:cNvPr id="18" name="bg object 18"/>
          <p:cNvPicPr/>
          <p:nvPr/>
        </p:nvPicPr>
        <p:blipFill>
          <a:blip r:embed="rId9" cstate="print"/>
          <a:stretch>
            <a:fillRect/>
          </a:stretch>
        </p:blipFill>
        <p:spPr>
          <a:xfrm>
            <a:off x="6553200" y="228600"/>
            <a:ext cx="2057400" cy="635000"/>
          </a:xfrm>
          <a:prstGeom prst="rect">
            <a:avLst/>
          </a:prstGeom>
        </p:spPr>
      </p:pic>
      <p:sp>
        <p:nvSpPr>
          <p:cNvPr id="19" name="bg object 19"/>
          <p:cNvSpPr/>
          <p:nvPr/>
        </p:nvSpPr>
        <p:spPr>
          <a:xfrm>
            <a:off x="6146800" y="0"/>
            <a:ext cx="2997200" cy="838200"/>
          </a:xfrm>
          <a:custGeom>
            <a:avLst/>
            <a:gdLst/>
            <a:ahLst/>
            <a:cxnLst/>
            <a:rect l="l" t="t" r="r" b="b"/>
            <a:pathLst>
              <a:path w="2997200" h="838200">
                <a:moveTo>
                  <a:pt x="2997200" y="0"/>
                </a:moveTo>
                <a:lnTo>
                  <a:pt x="0" y="0"/>
                </a:lnTo>
                <a:lnTo>
                  <a:pt x="0" y="838200"/>
                </a:lnTo>
                <a:lnTo>
                  <a:pt x="2997200" y="838200"/>
                </a:lnTo>
                <a:lnTo>
                  <a:pt x="2997200" y="0"/>
                </a:lnTo>
                <a:close/>
              </a:path>
            </a:pathLst>
          </a:custGeom>
          <a:solidFill>
            <a:srgbClr val="FF3300"/>
          </a:solidFill>
        </p:spPr>
        <p:txBody>
          <a:bodyPr wrap="square" lIns="0" tIns="0" rIns="0" bIns="0" rtlCol="0"/>
          <a:lstStyle/>
          <a:p>
            <a:endParaRPr/>
          </a:p>
        </p:txBody>
      </p:sp>
      <p:pic>
        <p:nvPicPr>
          <p:cNvPr id="20" name="bg object 20"/>
          <p:cNvPicPr/>
          <p:nvPr/>
        </p:nvPicPr>
        <p:blipFill>
          <a:blip r:embed="rId10" cstate="print"/>
          <a:stretch>
            <a:fillRect/>
          </a:stretch>
        </p:blipFill>
        <p:spPr>
          <a:xfrm>
            <a:off x="6553200" y="228600"/>
            <a:ext cx="2057400" cy="635000"/>
          </a:xfrm>
          <a:prstGeom prst="rect">
            <a:avLst/>
          </a:prstGeom>
        </p:spPr>
      </p:pic>
      <p:sp>
        <p:nvSpPr>
          <p:cNvPr id="21" name="bg object 21"/>
          <p:cNvSpPr/>
          <p:nvPr/>
        </p:nvSpPr>
        <p:spPr>
          <a:xfrm>
            <a:off x="6527800" y="190500"/>
            <a:ext cx="2076450" cy="685800"/>
          </a:xfrm>
          <a:custGeom>
            <a:avLst/>
            <a:gdLst/>
            <a:ahLst/>
            <a:cxnLst/>
            <a:rect l="l" t="t" r="r" b="b"/>
            <a:pathLst>
              <a:path w="2076450" h="685800">
                <a:moveTo>
                  <a:pt x="2076450" y="0"/>
                </a:moveTo>
                <a:lnTo>
                  <a:pt x="0" y="0"/>
                </a:lnTo>
                <a:lnTo>
                  <a:pt x="0" y="685800"/>
                </a:lnTo>
                <a:lnTo>
                  <a:pt x="2076450" y="685800"/>
                </a:lnTo>
                <a:lnTo>
                  <a:pt x="2076450" y="0"/>
                </a:lnTo>
                <a:close/>
              </a:path>
            </a:pathLst>
          </a:custGeom>
          <a:solidFill>
            <a:srgbClr val="FFFFFF"/>
          </a:solidFill>
        </p:spPr>
        <p:txBody>
          <a:bodyPr wrap="square" lIns="0" tIns="0" rIns="0" bIns="0" rtlCol="0"/>
          <a:lstStyle/>
          <a:p>
            <a:endParaRPr/>
          </a:p>
        </p:txBody>
      </p:sp>
      <p:pic>
        <p:nvPicPr>
          <p:cNvPr id="22" name="bg object 22"/>
          <p:cNvPicPr/>
          <p:nvPr/>
        </p:nvPicPr>
        <p:blipFill>
          <a:blip r:embed="rId11" cstate="print"/>
          <a:stretch>
            <a:fillRect/>
          </a:stretch>
        </p:blipFill>
        <p:spPr>
          <a:xfrm>
            <a:off x="6553200" y="228600"/>
            <a:ext cx="1920875" cy="609600"/>
          </a:xfrm>
          <a:prstGeom prst="rect">
            <a:avLst/>
          </a:prstGeom>
        </p:spPr>
      </p:pic>
      <p:sp>
        <p:nvSpPr>
          <p:cNvPr id="2" name="Holder 2"/>
          <p:cNvSpPr>
            <a:spLocks noGrp="1"/>
          </p:cNvSpPr>
          <p:nvPr>
            <p:ph type="title"/>
          </p:nvPr>
        </p:nvSpPr>
        <p:spPr>
          <a:xfrm>
            <a:off x="78739" y="186639"/>
            <a:ext cx="4778375" cy="607237"/>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258267" y="1076959"/>
            <a:ext cx="8494395" cy="2160270"/>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4/30/2026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en.m.wikipedia.org/wiki/Cloud_computing" TargetMode="External"/><Relationship Id="rId2" Type="http://schemas.openxmlformats.org/officeDocument/2006/relationships/hyperlink" Target="https://cxocontent.com/future-of-cloud-computing-inception-to-edge-computing/" TargetMode="External"/><Relationship Id="rId1" Type="http://schemas.openxmlformats.org/officeDocument/2006/relationships/slideLayout" Target="../slideLayouts/slideLayout2.xml"/><Relationship Id="rId6" Type="http://schemas.openxmlformats.org/officeDocument/2006/relationships/hyperlink" Target="https://www.rapyder.com/blog/disaster-recovery-in-cloud-computing/" TargetMode="External"/><Relationship Id="rId5" Type="http://schemas.openxmlformats.org/officeDocument/2006/relationships/hyperlink" Target="https://swzd.com/resources/cloud-trends/" TargetMode="External"/><Relationship Id="rId4" Type="http://schemas.openxmlformats.org/officeDocument/2006/relationships/hyperlink" Target="https://www.tutorialspoint.com/cloud_computing/cloud_computing_challenges.ht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717485"/>
          </a:xfrm>
          <a:prstGeom prst="rect">
            <a:avLst/>
          </a:prstGeom>
          <a:noFill/>
          <a:ln w="9360">
            <a:noFill/>
          </a:ln>
        </p:spPr>
        <p:txBody>
          <a:bodyPr>
            <a:noAutofit/>
          </a:bodyPr>
          <a:lstStyle/>
          <a:p>
            <a:pPr algn="ctr">
              <a:lnSpc>
                <a:spcPct val="100000"/>
              </a:lnSpc>
              <a:spcBef>
                <a:spcPts val="400"/>
              </a:spcBef>
            </a:pPr>
            <a:r>
              <a:rPr lang="en-IN"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spcBef>
                <a:spcPts val="400"/>
              </a:spcBef>
            </a:pPr>
            <a:r>
              <a:rPr lang="en-US" sz="1800" b="1" dirty="0"/>
              <a:t>Analyzing Business Performance Gains from Cloud Adoption Using Data-Driven Approach</a:t>
            </a:r>
            <a:endParaRPr lang="en-IN" sz="1800" dirty="0"/>
          </a:p>
          <a:p>
            <a:pPr algn="ctr">
              <a:lnSpc>
                <a:spcPct val="100000"/>
              </a:lnSpc>
              <a:spcBef>
                <a:spcPts val="400"/>
              </a:spcBef>
            </a:pPr>
            <a:endParaRPr lang="en-US" sz="2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Name: Pratham Bajaj, Nayaja</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Ro</a:t>
            </a:r>
            <a:r>
              <a:rPr lang="en-US" sz="2000" spc="-1" dirty="0">
                <a:solidFill>
                  <a:srgbClr val="000000"/>
                </a:solidFill>
                <a:latin typeface="Times New Roman" panose="02020603050405020304" pitchFamily="18" charset="0"/>
                <a:ea typeface="MS PGothic"/>
                <a:cs typeface="Times New Roman" panose="02020603050405020304" pitchFamily="18" charset="0"/>
              </a:rPr>
              <a:t>ll Number.: 2210992072, 2210991968</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Dr. S.B. Goyal  De</a:t>
            </a:r>
            <a:r>
              <a:rPr lang="en-IN" sz="2000" spc="-1" dirty="0">
                <a:solidFill>
                  <a:srgbClr val="000000"/>
                </a:solidFill>
                <a:latin typeface="Times New Roman" panose="02020603050405020304" pitchFamily="18" charset="0"/>
                <a:ea typeface="MS PGothic"/>
                <a:cs typeface="Times New Roman" panose="02020603050405020304" pitchFamily="18" charset="0"/>
              </a:rPr>
              <a:t>an</a:t>
            </a: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spcBef>
                <a:spcPts val="400"/>
              </a:spcBef>
            </a:pP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6222" rIns="0" bIns="0" rtlCol="0">
            <a:spAutoFit/>
          </a:bodyPr>
          <a:lstStyle/>
          <a:p>
            <a:pPr marL="335915">
              <a:lnSpc>
                <a:spcPct val="100000"/>
              </a:lnSpc>
              <a:spcBef>
                <a:spcPts val="100"/>
              </a:spcBef>
            </a:pPr>
            <a:r>
              <a:rPr spc="-35" dirty="0"/>
              <a:t>Table</a:t>
            </a:r>
            <a:r>
              <a:rPr spc="-90" dirty="0"/>
              <a:t> </a:t>
            </a:r>
            <a:r>
              <a:rPr dirty="0"/>
              <a:t>of</a:t>
            </a:r>
            <a:r>
              <a:rPr spc="-70" dirty="0"/>
              <a:t> </a:t>
            </a:r>
            <a:r>
              <a:rPr spc="-10" dirty="0"/>
              <a:t>Contents</a:t>
            </a:r>
          </a:p>
        </p:txBody>
      </p:sp>
      <p:sp>
        <p:nvSpPr>
          <p:cNvPr id="3" name="object 3"/>
          <p:cNvSpPr txBox="1"/>
          <p:nvPr/>
        </p:nvSpPr>
        <p:spPr>
          <a:xfrm>
            <a:off x="381000" y="1018373"/>
            <a:ext cx="3383915" cy="5027658"/>
          </a:xfrm>
          <a:prstGeom prst="rect">
            <a:avLst/>
          </a:prstGeom>
        </p:spPr>
        <p:txBody>
          <a:bodyPr vert="horz" wrap="square" lIns="0" tIns="13335" rIns="0" bIns="0" rtlCol="0">
            <a:spAutoFit/>
          </a:bodyPr>
          <a:lstStyle/>
          <a:p>
            <a:pPr marL="431165" indent="-418465">
              <a:lnSpc>
                <a:spcPct val="100000"/>
              </a:lnSpc>
              <a:spcBef>
                <a:spcPts val="105"/>
              </a:spcBef>
              <a:buSzPct val="120000"/>
              <a:buFont typeface="Wingdings"/>
              <a:buChar char=""/>
              <a:tabLst>
                <a:tab pos="431165" algn="l"/>
              </a:tabLst>
            </a:pPr>
            <a:r>
              <a:rPr sz="2000" spc="-10" dirty="0">
                <a:latin typeface="Times New Roman"/>
                <a:cs typeface="Times New Roman"/>
              </a:rPr>
              <a:t>Introduction</a:t>
            </a:r>
            <a:endParaRPr sz="2000" dirty="0">
              <a:latin typeface="Times New Roman"/>
              <a:cs typeface="Times New Roman"/>
            </a:endParaRPr>
          </a:p>
          <a:p>
            <a:pPr>
              <a:lnSpc>
                <a:spcPct val="100000"/>
              </a:lnSpc>
              <a:spcBef>
                <a:spcPts val="195"/>
              </a:spcBef>
              <a:buFont typeface="Wingdings"/>
              <a:buChar char=""/>
            </a:pPr>
            <a:endParaRPr sz="2000" dirty="0">
              <a:latin typeface="Times New Roman"/>
              <a:cs typeface="Times New Roman"/>
            </a:endParaRPr>
          </a:p>
          <a:p>
            <a:pPr marL="419100" indent="-406400">
              <a:lnSpc>
                <a:spcPct val="100000"/>
              </a:lnSpc>
              <a:buFont typeface="Wingdings"/>
              <a:buChar char=""/>
              <a:tabLst>
                <a:tab pos="419100" algn="l"/>
              </a:tabLst>
            </a:pPr>
            <a:r>
              <a:rPr sz="2000" dirty="0">
                <a:latin typeface="Times New Roman"/>
                <a:cs typeface="Times New Roman"/>
              </a:rPr>
              <a:t>Problem</a:t>
            </a:r>
            <a:r>
              <a:rPr sz="2000" spc="-45" dirty="0">
                <a:latin typeface="Times New Roman"/>
                <a:cs typeface="Times New Roman"/>
              </a:rPr>
              <a:t> </a:t>
            </a:r>
            <a:r>
              <a:rPr sz="2000" spc="-10" dirty="0">
                <a:latin typeface="Times New Roman"/>
                <a:cs typeface="Times New Roman"/>
              </a:rPr>
              <a:t>Statement</a:t>
            </a:r>
            <a:endParaRPr lang="en-IN" sz="2000" spc="-10" dirty="0">
              <a:latin typeface="Times New Roman"/>
              <a:cs typeface="Times New Roman"/>
            </a:endParaRPr>
          </a:p>
          <a:p>
            <a:pPr marL="419100" indent="-406400">
              <a:lnSpc>
                <a:spcPct val="100000"/>
              </a:lnSpc>
              <a:buFont typeface="Wingdings"/>
              <a:buChar char=""/>
              <a:tabLst>
                <a:tab pos="419100" algn="l"/>
              </a:tabLst>
            </a:pPr>
            <a:endParaRPr lang="en-IN" sz="2000" spc="-10" dirty="0">
              <a:latin typeface="Times New Roman"/>
              <a:cs typeface="Times New Roman"/>
            </a:endParaRPr>
          </a:p>
          <a:p>
            <a:pPr marL="419100" indent="-406400">
              <a:lnSpc>
                <a:spcPct val="100000"/>
              </a:lnSpc>
              <a:buFont typeface="Wingdings"/>
              <a:buChar char=""/>
              <a:tabLst>
                <a:tab pos="419100" algn="l"/>
              </a:tabLst>
            </a:pPr>
            <a:r>
              <a:rPr lang="en-IN" sz="2000" spc="-10" dirty="0">
                <a:latin typeface="Times New Roman"/>
                <a:cs typeface="Times New Roman"/>
              </a:rPr>
              <a:t>Methodology</a:t>
            </a:r>
            <a:endParaRPr sz="2000" dirty="0">
              <a:latin typeface="Times New Roman"/>
              <a:cs typeface="Times New Roman"/>
            </a:endParaRPr>
          </a:p>
          <a:p>
            <a:pPr>
              <a:lnSpc>
                <a:spcPct val="100000"/>
              </a:lnSpc>
              <a:spcBef>
                <a:spcPts val="100"/>
              </a:spcBef>
              <a:buFont typeface="Wingdings"/>
              <a:buChar char=""/>
            </a:pPr>
            <a:endParaRPr sz="2000" dirty="0">
              <a:latin typeface="Times New Roman"/>
              <a:cs typeface="Times New Roman"/>
            </a:endParaRPr>
          </a:p>
          <a:p>
            <a:pPr marL="354965" indent="-342265">
              <a:lnSpc>
                <a:spcPct val="100000"/>
              </a:lnSpc>
              <a:buFont typeface="Wingdings"/>
              <a:buChar char=""/>
              <a:tabLst>
                <a:tab pos="354965" algn="l"/>
              </a:tabLst>
            </a:pPr>
            <a:r>
              <a:rPr sz="2000" spc="-10" dirty="0">
                <a:latin typeface="Times New Roman"/>
                <a:cs typeface="Times New Roman"/>
              </a:rPr>
              <a:t>T</a:t>
            </a:r>
            <a:r>
              <a:rPr lang="en-IN" sz="2000" spc="-10" dirty="0" err="1">
                <a:latin typeface="Times New Roman"/>
                <a:cs typeface="Times New Roman"/>
              </a:rPr>
              <a:t>ools</a:t>
            </a:r>
            <a:r>
              <a:rPr lang="en-IN" sz="2000" spc="-10" dirty="0">
                <a:latin typeface="Times New Roman"/>
                <a:cs typeface="Times New Roman"/>
              </a:rPr>
              <a:t> and Technologies</a:t>
            </a:r>
          </a:p>
          <a:p>
            <a:pPr marL="354965" indent="-342265">
              <a:lnSpc>
                <a:spcPct val="100000"/>
              </a:lnSpc>
              <a:buFont typeface="Wingdings"/>
              <a:buChar char=""/>
              <a:tabLst>
                <a:tab pos="354965" algn="l"/>
              </a:tabLst>
            </a:pPr>
            <a:endParaRPr lang="en-IN" sz="2000" spc="-10" dirty="0">
              <a:latin typeface="Times New Roman"/>
              <a:cs typeface="Times New Roman"/>
            </a:endParaRPr>
          </a:p>
          <a:p>
            <a:pPr marL="354965" indent="-342265">
              <a:lnSpc>
                <a:spcPct val="100000"/>
              </a:lnSpc>
              <a:buFont typeface="Wingdings"/>
              <a:buChar char=""/>
              <a:tabLst>
                <a:tab pos="354965" algn="l"/>
              </a:tabLst>
            </a:pPr>
            <a:r>
              <a:rPr lang="en-IN" sz="2000" spc="-10" dirty="0">
                <a:latin typeface="Times New Roman"/>
                <a:cs typeface="Times New Roman"/>
              </a:rPr>
              <a:t>Findings and Outcomes</a:t>
            </a:r>
            <a:endParaRPr sz="2000" dirty="0">
              <a:latin typeface="Times New Roman"/>
              <a:cs typeface="Times New Roman"/>
            </a:endParaRPr>
          </a:p>
          <a:p>
            <a:pPr>
              <a:lnSpc>
                <a:spcPct val="100000"/>
              </a:lnSpc>
              <a:spcBef>
                <a:spcPts val="105"/>
              </a:spcBef>
            </a:pPr>
            <a:endParaRPr sz="2000" dirty="0">
              <a:latin typeface="Times New Roman"/>
              <a:cs typeface="Times New Roman"/>
            </a:endParaRPr>
          </a:p>
          <a:p>
            <a:pPr marL="354965" indent="-342265">
              <a:lnSpc>
                <a:spcPct val="100000"/>
              </a:lnSpc>
              <a:buFont typeface="Wingdings"/>
              <a:buChar char=""/>
              <a:tabLst>
                <a:tab pos="354965" algn="l"/>
              </a:tabLst>
            </a:pPr>
            <a:r>
              <a:rPr sz="2000" dirty="0">
                <a:latin typeface="Times New Roman"/>
                <a:cs typeface="Times New Roman"/>
              </a:rPr>
              <a:t>Code</a:t>
            </a:r>
            <a:r>
              <a:rPr sz="2000" spc="-5" dirty="0">
                <a:latin typeface="Times New Roman"/>
                <a:cs typeface="Times New Roman"/>
              </a:rPr>
              <a:t> </a:t>
            </a:r>
            <a:r>
              <a:rPr sz="2000" spc="-10" dirty="0">
                <a:latin typeface="Times New Roman"/>
                <a:cs typeface="Times New Roman"/>
              </a:rPr>
              <a:t>Snippets</a:t>
            </a:r>
            <a:endParaRPr sz="2000" dirty="0">
              <a:latin typeface="Times New Roman"/>
              <a:cs typeface="Times New Roman"/>
            </a:endParaRPr>
          </a:p>
          <a:p>
            <a:pPr>
              <a:lnSpc>
                <a:spcPct val="100000"/>
              </a:lnSpc>
              <a:spcBef>
                <a:spcPts val="100"/>
              </a:spcBef>
              <a:buFont typeface="Wingdings"/>
              <a:buChar char=""/>
            </a:pPr>
            <a:endParaRPr sz="2000" dirty="0">
              <a:latin typeface="Times New Roman"/>
              <a:cs typeface="Times New Roman"/>
            </a:endParaRPr>
          </a:p>
          <a:p>
            <a:pPr marL="419100" indent="-406400">
              <a:lnSpc>
                <a:spcPct val="100000"/>
              </a:lnSpc>
              <a:buFont typeface="Wingdings"/>
              <a:buChar char=""/>
              <a:tabLst>
                <a:tab pos="419100" algn="l"/>
              </a:tabLst>
            </a:pPr>
            <a:r>
              <a:rPr sz="2000" spc="-10" dirty="0">
                <a:latin typeface="Times New Roman"/>
                <a:cs typeface="Times New Roman"/>
              </a:rPr>
              <a:t>Conclusion</a:t>
            </a:r>
            <a:r>
              <a:rPr lang="en-IN" sz="2000" spc="-10" dirty="0">
                <a:latin typeface="Times New Roman"/>
                <a:cs typeface="Times New Roman"/>
              </a:rPr>
              <a:t> and Future Scope</a:t>
            </a:r>
            <a:endParaRPr sz="2000" dirty="0">
              <a:latin typeface="Times New Roman"/>
              <a:cs typeface="Times New Roman"/>
            </a:endParaRPr>
          </a:p>
          <a:p>
            <a:pPr>
              <a:lnSpc>
                <a:spcPct val="100000"/>
              </a:lnSpc>
              <a:spcBef>
                <a:spcPts val="100"/>
              </a:spcBef>
              <a:buFont typeface="Wingdings"/>
              <a:buChar char=""/>
            </a:pPr>
            <a:endParaRPr sz="2000" dirty="0">
              <a:latin typeface="Times New Roman"/>
              <a:cs typeface="Times New Roman"/>
            </a:endParaRPr>
          </a:p>
          <a:p>
            <a:pPr marL="419100" indent="-406400">
              <a:lnSpc>
                <a:spcPct val="100000"/>
              </a:lnSpc>
              <a:buFont typeface="Wingdings"/>
              <a:buChar char=""/>
              <a:tabLst>
                <a:tab pos="419100" algn="l"/>
              </a:tabLst>
            </a:pPr>
            <a:r>
              <a:rPr sz="2000" dirty="0">
                <a:latin typeface="Times New Roman"/>
                <a:cs typeface="Times New Roman"/>
              </a:rPr>
              <a:t>References/Links</a:t>
            </a:r>
            <a:r>
              <a:rPr sz="2000" spc="-70" dirty="0">
                <a:latin typeface="Times New Roman"/>
                <a:cs typeface="Times New Roman"/>
              </a:rPr>
              <a:t> </a:t>
            </a:r>
            <a:r>
              <a:rPr sz="2000" spc="-20" dirty="0">
                <a:latin typeface="Times New Roman"/>
                <a:cs typeface="Times New Roman"/>
              </a:rPr>
              <a:t>used</a:t>
            </a:r>
            <a:endParaRPr sz="2000" dirty="0">
              <a:latin typeface="Times New Roman"/>
              <a:cs typeface="Times New Roman"/>
            </a:endParaRPr>
          </a:p>
          <a:p>
            <a:pPr>
              <a:lnSpc>
                <a:spcPct val="100000"/>
              </a:lnSpc>
              <a:spcBef>
                <a:spcPts val="100"/>
              </a:spcBef>
            </a:pPr>
            <a:endParaRPr sz="20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0" dirty="0"/>
              <a:t>Introduction</a:t>
            </a:r>
          </a:p>
        </p:txBody>
      </p:sp>
      <p:sp>
        <p:nvSpPr>
          <p:cNvPr id="3" name="object 3"/>
          <p:cNvSpPr txBox="1"/>
          <p:nvPr/>
        </p:nvSpPr>
        <p:spPr>
          <a:xfrm>
            <a:off x="304800" y="990600"/>
            <a:ext cx="8136230" cy="6019597"/>
          </a:xfrm>
          <a:prstGeom prst="rect">
            <a:avLst/>
          </a:prstGeom>
        </p:spPr>
        <p:txBody>
          <a:bodyPr vert="horz" wrap="square" lIns="0" tIns="12700" rIns="0" bIns="0" rtlCol="0">
            <a:spAutoFit/>
          </a:bodyPr>
          <a:lstStyle/>
          <a:p>
            <a:pPr marL="355600" marR="59055" indent="-342900">
              <a:lnSpc>
                <a:spcPct val="150000"/>
              </a:lnSpc>
              <a:spcBef>
                <a:spcPts val="100"/>
              </a:spcBef>
              <a:buFont typeface="Wingdings"/>
              <a:buChar char=""/>
              <a:tabLst>
                <a:tab pos="355600" algn="l"/>
              </a:tabLst>
            </a:pPr>
            <a:r>
              <a:rPr lang="en-GB" dirty="0">
                <a:latin typeface="Times New Roman"/>
                <a:cs typeface="Times New Roman"/>
              </a:rPr>
              <a:t>In recent years, advancements in information technology have significantly influenced the way businesses operate. Traditional IT infrastructure requires heavy investment in hardware, maintenance, and skilled personnel. Cloud computing has emerged as an alternative solution that provides on-demand access to computing resources such as storage, networking, and software services. This project explores how cloud computing improves business operations through a quantitative approach. Unlike traditional studies that focus on theoretical benefits, this project uses logistic regression to </a:t>
            </a:r>
            <a:r>
              <a:rPr lang="en-GB" dirty="0" err="1">
                <a:latin typeface="Times New Roman"/>
                <a:cs typeface="Times New Roman"/>
              </a:rPr>
              <a:t>analyze</a:t>
            </a:r>
            <a:r>
              <a:rPr lang="en-GB" dirty="0">
                <a:latin typeface="Times New Roman"/>
                <a:cs typeface="Times New Roman"/>
              </a:rPr>
              <a:t> efficiency improvements after cloud adoption. Cloud platforms such as AWS, Microsoft Azure, and Google Cloud allow organizations to scale resources dynamically and reduce operational complexity.</a:t>
            </a:r>
          </a:p>
          <a:p>
            <a:pPr marL="12700" marR="59055">
              <a:lnSpc>
                <a:spcPct val="150000"/>
              </a:lnSpc>
              <a:spcBef>
                <a:spcPts val="100"/>
              </a:spcBef>
              <a:tabLst>
                <a:tab pos="355600" algn="l"/>
              </a:tabLst>
            </a:pPr>
            <a:endParaRPr lang="en-GB" dirty="0">
              <a:latin typeface="Times New Roman"/>
              <a:cs typeface="Times New Roman"/>
            </a:endParaRPr>
          </a:p>
          <a:p>
            <a:pPr marL="355600" marR="59055" indent="-342900">
              <a:lnSpc>
                <a:spcPct val="150000"/>
              </a:lnSpc>
              <a:spcBef>
                <a:spcPts val="100"/>
              </a:spcBef>
              <a:buFont typeface="Wingdings"/>
              <a:buChar char=""/>
              <a:tabLst>
                <a:tab pos="355600" algn="l"/>
              </a:tabLst>
            </a:pPr>
            <a:r>
              <a:rPr lang="en-US" sz="1800" dirty="0">
                <a:latin typeface="Times New Roman" panose="02020603050405020304" pitchFamily="18" charset="0"/>
                <a:cs typeface="Times New Roman" panose="02020603050405020304" pitchFamily="18" charset="0"/>
              </a:rPr>
              <a:t>The study focuses on evaluating the impact of cloud computing on cost reduction, operational efficiency, and business continuity</a:t>
            </a:r>
            <a:endParaRPr lang="en-IN" sz="1800" dirty="0">
              <a:latin typeface="Times New Roman" panose="02020603050405020304" pitchFamily="18" charset="0"/>
              <a:cs typeface="Times New Roman" panose="02020603050405020304" pitchFamily="18" charset="0"/>
            </a:endParaRPr>
          </a:p>
          <a:p>
            <a:pPr marL="355600" marR="59055" indent="-342900">
              <a:lnSpc>
                <a:spcPct val="100000"/>
              </a:lnSpc>
              <a:spcBef>
                <a:spcPts val="100"/>
              </a:spcBef>
              <a:buFont typeface="Wingdings"/>
              <a:buChar char=""/>
              <a:tabLst>
                <a:tab pos="355600" algn="l"/>
              </a:tabLst>
            </a:pPr>
            <a:endParaRPr lang="en-GB" dirty="0">
              <a:latin typeface="Times New Roman"/>
              <a:cs typeface="Times New Roman"/>
            </a:endParaRPr>
          </a:p>
          <a:p>
            <a:pPr marL="355600" marR="59055" indent="-342900">
              <a:lnSpc>
                <a:spcPct val="100000"/>
              </a:lnSpc>
              <a:spcBef>
                <a:spcPts val="100"/>
              </a:spcBef>
              <a:buFont typeface="Wingdings"/>
              <a:buChar char=""/>
              <a:tabLst>
                <a:tab pos="355600" algn="l"/>
              </a:tabLst>
            </a:pPr>
            <a:endParaRPr dirty="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6222" rIns="0" bIns="0" rtlCol="0">
            <a:spAutoFit/>
          </a:bodyPr>
          <a:lstStyle/>
          <a:p>
            <a:pPr marL="264160">
              <a:lnSpc>
                <a:spcPct val="100000"/>
              </a:lnSpc>
              <a:spcBef>
                <a:spcPts val="100"/>
              </a:spcBef>
            </a:pPr>
            <a:r>
              <a:rPr dirty="0"/>
              <a:t>Problem</a:t>
            </a:r>
            <a:r>
              <a:rPr spc="-80" dirty="0"/>
              <a:t> </a:t>
            </a:r>
            <a:r>
              <a:rPr spc="-10" dirty="0"/>
              <a:t>Statement</a:t>
            </a:r>
          </a:p>
        </p:txBody>
      </p:sp>
      <p:sp>
        <p:nvSpPr>
          <p:cNvPr id="3" name="object 3"/>
          <p:cNvSpPr txBox="1"/>
          <p:nvPr/>
        </p:nvSpPr>
        <p:spPr>
          <a:xfrm>
            <a:off x="330200" y="1148841"/>
            <a:ext cx="8287384" cy="5320046"/>
          </a:xfrm>
          <a:prstGeom prst="rect">
            <a:avLst/>
          </a:prstGeom>
        </p:spPr>
        <p:txBody>
          <a:bodyPr vert="horz" wrap="square" lIns="0" tIns="13335" rIns="0" bIns="0" rtlCol="0">
            <a:spAutoFit/>
          </a:bodyPr>
          <a:lstStyle/>
          <a:p>
            <a:pPr algn="just">
              <a:lnSpc>
                <a:spcPct val="150000"/>
              </a:lnSpc>
            </a:pPr>
            <a:r>
              <a:rPr lang="en-IN" sz="1800" dirty="0">
                <a:latin typeface="Times New Roman" panose="02020603050405020304" pitchFamily="18" charset="0"/>
                <a:cs typeface="Times New Roman" panose="02020603050405020304" pitchFamily="18" charset="0"/>
              </a:rPr>
              <a:t>Traditional IT infrastructure involves high costs, limited scalability, and complex maintenance, which restrict business flexibility and efficiency. Organizations often struggle with resource utilization, system upgrades, and adapting to changing business needs such as remote work and real-time data access.</a:t>
            </a:r>
          </a:p>
          <a:p>
            <a:pPr algn="just">
              <a:lnSpc>
                <a:spcPct val="150000"/>
              </a:lnSpc>
            </a:pPr>
            <a:r>
              <a:rPr lang="en-IN" sz="1800" dirty="0">
                <a:latin typeface="Times New Roman" panose="02020603050405020304" pitchFamily="18" charset="0"/>
                <a:cs typeface="Times New Roman" panose="02020603050405020304" pitchFamily="18" charset="0"/>
              </a:rPr>
              <a:t>Although cloud computing provides a scalable and cost-effective alternative, there is still a lack of clear quantitative analysis of its impact on business performance. Most existing studies focus on general benefits like cost reduction and improved collaboration, but they do not measure actual efficiency improvements using data-driven methods.</a:t>
            </a:r>
          </a:p>
          <a:p>
            <a:pPr algn="just">
              <a:lnSpc>
                <a:spcPct val="150000"/>
              </a:lnSpc>
            </a:pPr>
            <a:r>
              <a:rPr lang="en-IN" sz="1800" dirty="0">
                <a:latin typeface="Times New Roman" panose="02020603050405020304" pitchFamily="18" charset="0"/>
                <a:cs typeface="Times New Roman" panose="02020603050405020304" pitchFamily="18" charset="0"/>
              </a:rPr>
              <a:t>Therefore, this project aims to address this gap by </a:t>
            </a:r>
            <a:r>
              <a:rPr lang="en-IN" sz="1800" dirty="0" err="1">
                <a:latin typeface="Times New Roman" panose="02020603050405020304" pitchFamily="18" charset="0"/>
                <a:cs typeface="Times New Roman" panose="02020603050405020304" pitchFamily="18" charset="0"/>
              </a:rPr>
              <a:t>analyzing</a:t>
            </a:r>
            <a:r>
              <a:rPr lang="en-IN" sz="1800" dirty="0">
                <a:latin typeface="Times New Roman" panose="02020603050405020304" pitchFamily="18" charset="0"/>
                <a:cs typeface="Times New Roman" panose="02020603050405020304" pitchFamily="18" charset="0"/>
              </a:rPr>
              <a:t> the impact of cloud computing on business operations using a data-driven approach. By applying logistic regression on pre- and post-adoption data, the study evaluates improvements in operational efficiency and overall performance.</a:t>
            </a:r>
          </a:p>
          <a:p>
            <a:pPr marL="12700" marR="175260">
              <a:lnSpc>
                <a:spcPct val="100000"/>
              </a:lnSpc>
              <a:spcBef>
                <a:spcPts val="105"/>
              </a:spcBef>
            </a:pPr>
            <a:endParaRPr sz="2000" dirty="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39" y="186639"/>
            <a:ext cx="4778375" cy="599702"/>
          </a:xfrm>
          <a:prstGeom prst="rect">
            <a:avLst/>
          </a:prstGeom>
        </p:spPr>
        <p:txBody>
          <a:bodyPr vert="horz" wrap="square" lIns="0" tIns="106222" rIns="0" bIns="0" rtlCol="0">
            <a:spAutoFit/>
          </a:bodyPr>
          <a:lstStyle/>
          <a:p>
            <a:pPr marL="264160">
              <a:lnSpc>
                <a:spcPct val="100000"/>
              </a:lnSpc>
              <a:spcBef>
                <a:spcPts val="100"/>
              </a:spcBef>
            </a:pPr>
            <a:r>
              <a:rPr lang="en-IN" spc="-10" dirty="0"/>
              <a:t>Methodology</a:t>
            </a:r>
            <a:endParaRPr spc="-10" dirty="0"/>
          </a:p>
        </p:txBody>
      </p:sp>
      <p:sp>
        <p:nvSpPr>
          <p:cNvPr id="3" name="object 3"/>
          <p:cNvSpPr txBox="1"/>
          <p:nvPr/>
        </p:nvSpPr>
        <p:spPr>
          <a:xfrm>
            <a:off x="306425" y="1110489"/>
            <a:ext cx="8151775" cy="4482637"/>
          </a:xfrm>
          <a:prstGeom prst="rect">
            <a:avLst/>
          </a:prstGeom>
        </p:spPr>
        <p:txBody>
          <a:bodyPr vert="horz" wrap="square" lIns="0" tIns="12065" rIns="0" bIns="0" rtlCol="0">
            <a:spAutoFit/>
          </a:bodyPr>
          <a:lstStyle/>
          <a:p>
            <a:pPr marL="12065" marR="5080">
              <a:spcBef>
                <a:spcPts val="95"/>
              </a:spcBef>
              <a:tabLst>
                <a:tab pos="355600" algn="l"/>
              </a:tabLst>
            </a:pPr>
            <a:r>
              <a:rPr lang="en-IN" sz="1800" dirty="0">
                <a:latin typeface="Times New Roman" panose="02020603050405020304" pitchFamily="18" charset="0"/>
                <a:cs typeface="Times New Roman" panose="02020603050405020304" pitchFamily="18" charset="0"/>
              </a:rPr>
              <a:t>The research adopts a quantitative experimental methodology to </a:t>
            </a:r>
            <a:r>
              <a:rPr lang="en-IN" sz="1800" dirty="0" err="1">
                <a:latin typeface="Times New Roman" panose="02020603050405020304" pitchFamily="18" charset="0"/>
                <a:cs typeface="Times New Roman" panose="02020603050405020304" pitchFamily="18" charset="0"/>
              </a:rPr>
              <a:t>analyze</a:t>
            </a:r>
            <a:r>
              <a:rPr lang="en-IN" sz="1800" dirty="0">
                <a:latin typeface="Times New Roman" panose="02020603050405020304" pitchFamily="18" charset="0"/>
                <a:cs typeface="Times New Roman" panose="02020603050405020304" pitchFamily="18" charset="0"/>
              </a:rPr>
              <a:t> the impact of cloud computing on business performance. The study focuses on organizations that have transitioned from traditional IT infrastructure to cloud-based systems. A before-and-after comparative approach is used, where key performance indicators such as operational cost, efficiency, and system reliability are evaluated prior to and following cloud adoption. This approach enables a clear understanding of the direct effects of cloud integration on business operations.</a:t>
            </a:r>
          </a:p>
          <a:p>
            <a:pPr marL="12065" marR="5080">
              <a:spcBef>
                <a:spcPts val="95"/>
              </a:spcBef>
              <a:tabLst>
                <a:tab pos="355600" algn="l"/>
              </a:tabLst>
            </a:pPr>
            <a:endParaRPr lang="en-IN" dirty="0">
              <a:latin typeface="Times New Roman" panose="02020603050405020304" pitchFamily="18" charset="0"/>
              <a:cs typeface="Times New Roman" panose="02020603050405020304" pitchFamily="18" charset="0"/>
            </a:endParaRPr>
          </a:p>
          <a:p>
            <a:pPr marL="12065" marR="5080">
              <a:spcBef>
                <a:spcPts val="95"/>
              </a:spcBef>
              <a:tabLst>
                <a:tab pos="355600" algn="l"/>
              </a:tabLst>
            </a:pPr>
            <a:r>
              <a:rPr lang="en-IN" sz="1800" dirty="0">
                <a:latin typeface="Times New Roman" panose="02020603050405020304" pitchFamily="18" charset="0"/>
                <a:cs typeface="Times New Roman" panose="02020603050405020304" pitchFamily="18" charset="0"/>
              </a:rPr>
              <a:t>For data collection, relevant organizational data was gathered from multiple sources, including operational cost records, system performance metrics, and efficiency indicators. The data primarily captures expenditure patterns before cloud adoption and the subsequent reduction in costs and improvements in performance after migration. The dataset also incorporates factors such as remote work enablement, resource utilization, and system accessibility, providing a comprehensive view of business transformation driven by cloud technology.</a:t>
            </a:r>
          </a:p>
          <a:p>
            <a:pPr marL="12065" marR="5080">
              <a:spcBef>
                <a:spcPts val="95"/>
              </a:spcBef>
              <a:tabLst>
                <a:tab pos="355600" algn="l"/>
              </a:tabLst>
            </a:pP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6222" rIns="0" bIns="0" rtlCol="0">
            <a:spAutoFit/>
          </a:bodyPr>
          <a:lstStyle/>
          <a:p>
            <a:pPr marL="264160">
              <a:lnSpc>
                <a:spcPct val="100000"/>
              </a:lnSpc>
              <a:spcBef>
                <a:spcPts val="100"/>
              </a:spcBef>
            </a:pPr>
            <a:r>
              <a:rPr spc="-25" dirty="0"/>
              <a:t>T</a:t>
            </a:r>
            <a:r>
              <a:rPr lang="en-IN" spc="-25" dirty="0" err="1"/>
              <a:t>ools</a:t>
            </a:r>
            <a:r>
              <a:rPr lang="en-IN" spc="-25" dirty="0"/>
              <a:t> and Technologies</a:t>
            </a:r>
            <a:endParaRPr spc="-10" dirty="0"/>
          </a:p>
        </p:txBody>
      </p:sp>
      <p:sp>
        <p:nvSpPr>
          <p:cNvPr id="3" name="object 3"/>
          <p:cNvSpPr txBox="1"/>
          <p:nvPr/>
        </p:nvSpPr>
        <p:spPr>
          <a:xfrm>
            <a:off x="330200" y="1150365"/>
            <a:ext cx="8296275" cy="1964640"/>
          </a:xfrm>
          <a:prstGeom prst="rect">
            <a:avLst/>
          </a:prstGeom>
        </p:spPr>
        <p:txBody>
          <a:bodyPr vert="horz" wrap="square" lIns="0" tIns="12700" rIns="0" bIns="0" rtlCol="0">
            <a:spAutoFit/>
          </a:bodyPr>
          <a:lstStyle/>
          <a:p>
            <a:pPr marL="285750" lvl="0" indent="-285750">
              <a:lnSpc>
                <a:spcPct val="150000"/>
              </a:lnSpc>
              <a:buFont typeface="Wingdings" panose="05000000000000000000" pitchFamily="2" charset="2"/>
              <a:buChar char="§"/>
            </a:pPr>
            <a:r>
              <a:rPr lang="en-US" sz="1800" b="1" dirty="0"/>
              <a:t>Platform Used: </a:t>
            </a:r>
            <a:r>
              <a:rPr lang="en-US" sz="1800" dirty="0"/>
              <a:t>Google collab/ Anaconda</a:t>
            </a:r>
            <a:endParaRPr lang="en-IN" sz="1800" dirty="0"/>
          </a:p>
          <a:p>
            <a:pPr marL="285750" lvl="0" indent="-285750">
              <a:lnSpc>
                <a:spcPct val="150000"/>
              </a:lnSpc>
              <a:buFont typeface="Wingdings" panose="05000000000000000000" pitchFamily="2" charset="2"/>
              <a:buChar char="§"/>
            </a:pPr>
            <a:r>
              <a:rPr lang="en-US" sz="1800" b="1" dirty="0"/>
              <a:t>Required Libraries: </a:t>
            </a:r>
            <a:r>
              <a:rPr lang="en-US" sz="1800" dirty="0"/>
              <a:t>pandas, </a:t>
            </a:r>
            <a:r>
              <a:rPr lang="en-US" sz="1800" dirty="0" err="1"/>
              <a:t>Numpy</a:t>
            </a:r>
            <a:r>
              <a:rPr lang="en-US" sz="1800" dirty="0"/>
              <a:t>, matplotlib, scikit-learn.</a:t>
            </a:r>
            <a:endParaRPr lang="en-IN" sz="1800" dirty="0"/>
          </a:p>
          <a:p>
            <a:pPr marL="285750" lvl="0" indent="-285750">
              <a:lnSpc>
                <a:spcPct val="150000"/>
              </a:lnSpc>
              <a:buFont typeface="Wingdings" panose="05000000000000000000" pitchFamily="2" charset="2"/>
              <a:buChar char="§"/>
            </a:pPr>
            <a:r>
              <a:rPr lang="en-US" sz="1800" b="1" dirty="0"/>
              <a:t>Language Used:</a:t>
            </a:r>
            <a:r>
              <a:rPr lang="en-US" sz="1800" dirty="0"/>
              <a:t> Python</a:t>
            </a:r>
            <a:endParaRPr lang="en-IN" sz="1800" dirty="0"/>
          </a:p>
          <a:p>
            <a:pPr marL="285750" lvl="0" indent="-285750">
              <a:lnSpc>
                <a:spcPct val="150000"/>
              </a:lnSpc>
              <a:buFont typeface="Wingdings" panose="05000000000000000000" pitchFamily="2" charset="2"/>
              <a:buChar char="§"/>
            </a:pPr>
            <a:r>
              <a:rPr lang="en-US" sz="1800" b="1" dirty="0"/>
              <a:t>Requirement: </a:t>
            </a:r>
            <a:r>
              <a:rPr lang="en-US" sz="1800" dirty="0"/>
              <a:t>Python 3.10</a:t>
            </a:r>
            <a:endParaRPr lang="en-IN" sz="1800" dirty="0"/>
          </a:p>
          <a:p>
            <a:pPr marL="12700">
              <a:lnSpc>
                <a:spcPct val="100000"/>
              </a:lnSpc>
              <a:spcBef>
                <a:spcPts val="100"/>
              </a:spcBef>
              <a:tabLst>
                <a:tab pos="412115" algn="l"/>
              </a:tabLst>
            </a:pPr>
            <a:endParaRPr sz="1800" dirty="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6222" rIns="0" bIns="0" rtlCol="0">
            <a:spAutoFit/>
          </a:bodyPr>
          <a:lstStyle/>
          <a:p>
            <a:pPr marL="264160">
              <a:lnSpc>
                <a:spcPct val="100000"/>
              </a:lnSpc>
              <a:spcBef>
                <a:spcPts val="100"/>
              </a:spcBef>
            </a:pPr>
            <a:r>
              <a:rPr lang="en-IN" spc="-10" dirty="0"/>
              <a:t>Finding and Outcomes</a:t>
            </a:r>
            <a:endParaRPr spc="-10" dirty="0"/>
          </a:p>
        </p:txBody>
      </p:sp>
      <p:sp>
        <p:nvSpPr>
          <p:cNvPr id="7" name="TextBox 6">
            <a:extLst>
              <a:ext uri="{FF2B5EF4-FFF2-40B4-BE49-F238E27FC236}">
                <a16:creationId xmlns:a16="http://schemas.microsoft.com/office/drawing/2014/main" id="{A6DBD447-5157-4E36-3E82-1515F4ABB96A}"/>
              </a:ext>
            </a:extLst>
          </p:cNvPr>
          <p:cNvSpPr txBox="1"/>
          <p:nvPr/>
        </p:nvSpPr>
        <p:spPr>
          <a:xfrm>
            <a:off x="381000" y="1066800"/>
            <a:ext cx="8077200" cy="5211318"/>
          </a:xfrm>
          <a:prstGeom prst="rect">
            <a:avLst/>
          </a:prstGeom>
          <a:noFill/>
        </p:spPr>
        <p:txBody>
          <a:bodyPr wrap="square" rtlCol="0">
            <a:spAutoFit/>
          </a:bodyPr>
          <a:lstStyle/>
          <a:p>
            <a:pPr algn="just"/>
            <a:r>
              <a:rPr lang="en-GB" dirty="0">
                <a:latin typeface="Times New Roman" panose="02020603050405020304" pitchFamily="18" charset="0"/>
                <a:cs typeface="Times New Roman" panose="02020603050405020304" pitchFamily="18" charset="0"/>
              </a:rPr>
              <a:t>The findings of this study highlight that cloud computing significantly improves business performance across cost, efficiency, and reliability dimensions. A key outcome is the reduction in operational costs, as organizations shift from capital-intensive on-premises infrastructure to a pay-as-you-go cloud model. The analysis shows substantial annual savings, demonstrating how cloud adoption helps optimize financial resources while maintaining scalability.</a:t>
            </a:r>
          </a:p>
          <a:p>
            <a:pPr algn="just"/>
            <a:endParaRPr lang="en-GB" dirty="0">
              <a:latin typeface="Times New Roman" panose="02020603050405020304" pitchFamily="18" charset="0"/>
              <a:cs typeface="Times New Roman" panose="02020603050405020304" pitchFamily="18" charset="0"/>
            </a:endParaRPr>
          </a:p>
          <a:p>
            <a:pPr algn="just"/>
            <a:r>
              <a:rPr lang="en-GB" dirty="0">
                <a:latin typeface="Times New Roman" panose="02020603050405020304" pitchFamily="18" charset="0"/>
                <a:cs typeface="Times New Roman" panose="02020603050405020304" pitchFamily="18" charset="0"/>
              </a:rPr>
              <a:t>In addition to cost benefits, cloud computing enhances operational efficiency by enabling remote access, better resource utilization, and faster data processing. The study identifies efficiency improvements of up to 30%, with logistic regression analysis indicating that, with proper implementation and training, efficiency can increase by as much as 2.5 times. This supports the role of cloud technology in enabling flexible work environments and improving productivity.</a:t>
            </a:r>
          </a:p>
          <a:p>
            <a:pPr algn="just"/>
            <a:endParaRPr lang="en-GB" dirty="0">
              <a:latin typeface="Times New Roman" panose="02020603050405020304" pitchFamily="18" charset="0"/>
              <a:cs typeface="Times New Roman" panose="02020603050405020304" pitchFamily="18" charset="0"/>
            </a:endParaRPr>
          </a:p>
          <a:p>
            <a:pPr algn="just"/>
            <a:r>
              <a:rPr lang="en-GB" dirty="0">
                <a:latin typeface="Times New Roman" panose="02020603050405020304" pitchFamily="18" charset="0"/>
                <a:cs typeface="Times New Roman" panose="02020603050405020304" pitchFamily="18" charset="0"/>
              </a:rPr>
              <a:t>Additionally, cloud computing improves disaster recovery and business continuity through effective backup and recovery mechanisms. Overall, the findings confirm that cloud adoption is a cost-effective and strategic approach to achieving greater agility and long-term operational success</a:t>
            </a:r>
            <a:r>
              <a:rPr lang="en-GB" dirty="0"/>
              <a:t>.</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6222" rIns="0" bIns="0" rtlCol="0">
            <a:spAutoFit/>
          </a:bodyPr>
          <a:lstStyle/>
          <a:p>
            <a:pPr marL="264160">
              <a:lnSpc>
                <a:spcPct val="100000"/>
              </a:lnSpc>
              <a:spcBef>
                <a:spcPts val="100"/>
              </a:spcBef>
            </a:pPr>
            <a:r>
              <a:rPr lang="en-IN" spc="-10" dirty="0"/>
              <a:t>Code Snippets</a:t>
            </a:r>
            <a:endParaRPr spc="-10" dirty="0"/>
          </a:p>
        </p:txBody>
      </p:sp>
      <p:pic>
        <p:nvPicPr>
          <p:cNvPr id="4" name="Picture 3">
            <a:extLst>
              <a:ext uri="{FF2B5EF4-FFF2-40B4-BE49-F238E27FC236}">
                <a16:creationId xmlns:a16="http://schemas.microsoft.com/office/drawing/2014/main" id="{0518B3E1-4047-7CA2-185A-BE127454D35A}"/>
              </a:ext>
            </a:extLst>
          </p:cNvPr>
          <p:cNvPicPr>
            <a:picLocks noChangeAspect="1"/>
          </p:cNvPicPr>
          <p:nvPr/>
        </p:nvPicPr>
        <p:blipFill>
          <a:blip r:embed="rId2"/>
          <a:stretch>
            <a:fillRect/>
          </a:stretch>
        </p:blipFill>
        <p:spPr>
          <a:xfrm>
            <a:off x="685800" y="1295400"/>
            <a:ext cx="7374501" cy="473132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6222" rIns="0" bIns="0" rtlCol="0">
            <a:spAutoFit/>
          </a:bodyPr>
          <a:lstStyle/>
          <a:p>
            <a:pPr marL="264160">
              <a:lnSpc>
                <a:spcPct val="100000"/>
              </a:lnSpc>
              <a:spcBef>
                <a:spcPts val="100"/>
              </a:spcBef>
            </a:pPr>
            <a:r>
              <a:rPr dirty="0"/>
              <a:t>Code</a:t>
            </a:r>
            <a:r>
              <a:rPr spc="-15" dirty="0"/>
              <a:t> </a:t>
            </a:r>
            <a:r>
              <a:rPr spc="-10" dirty="0"/>
              <a:t>Snippets</a:t>
            </a:r>
          </a:p>
        </p:txBody>
      </p:sp>
      <p:pic>
        <p:nvPicPr>
          <p:cNvPr id="4" name="Picture 3">
            <a:extLst>
              <a:ext uri="{FF2B5EF4-FFF2-40B4-BE49-F238E27FC236}">
                <a16:creationId xmlns:a16="http://schemas.microsoft.com/office/drawing/2014/main" id="{75F4EA05-9FAE-2184-084A-DFE4140A86B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219200"/>
            <a:ext cx="7045942" cy="460165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6222" rIns="0" bIns="0" rtlCol="0">
            <a:spAutoFit/>
          </a:bodyPr>
          <a:lstStyle/>
          <a:p>
            <a:pPr marL="264160">
              <a:lnSpc>
                <a:spcPct val="100000"/>
              </a:lnSpc>
              <a:spcBef>
                <a:spcPts val="100"/>
              </a:spcBef>
            </a:pPr>
            <a:r>
              <a:rPr dirty="0"/>
              <a:t>Code</a:t>
            </a:r>
            <a:r>
              <a:rPr spc="-15" dirty="0"/>
              <a:t> </a:t>
            </a:r>
            <a:r>
              <a:rPr spc="-10" dirty="0"/>
              <a:t>Snippets</a:t>
            </a:r>
          </a:p>
        </p:txBody>
      </p:sp>
      <p:pic>
        <p:nvPicPr>
          <p:cNvPr id="4" name="Picture 3">
            <a:extLst>
              <a:ext uri="{FF2B5EF4-FFF2-40B4-BE49-F238E27FC236}">
                <a16:creationId xmlns:a16="http://schemas.microsoft.com/office/drawing/2014/main" id="{B2E11421-BEF5-4311-E224-24F991238AF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271184"/>
            <a:ext cx="7426789" cy="431563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39" y="186639"/>
            <a:ext cx="6017261" cy="599702"/>
          </a:xfrm>
          <a:prstGeom prst="rect">
            <a:avLst/>
          </a:prstGeom>
        </p:spPr>
        <p:txBody>
          <a:bodyPr vert="horz" wrap="square" lIns="0" tIns="106222" rIns="0" bIns="0" rtlCol="0">
            <a:spAutoFit/>
          </a:bodyPr>
          <a:lstStyle/>
          <a:p>
            <a:pPr marL="264160">
              <a:lnSpc>
                <a:spcPct val="100000"/>
              </a:lnSpc>
              <a:spcBef>
                <a:spcPts val="100"/>
              </a:spcBef>
            </a:pPr>
            <a:r>
              <a:rPr spc="-10" dirty="0"/>
              <a:t>Conclusion</a:t>
            </a:r>
            <a:r>
              <a:rPr lang="en-IN" spc="-10" dirty="0"/>
              <a:t> and Future Scope</a:t>
            </a:r>
            <a:endParaRPr spc="-10" dirty="0"/>
          </a:p>
        </p:txBody>
      </p:sp>
      <p:sp>
        <p:nvSpPr>
          <p:cNvPr id="3" name="object 3"/>
          <p:cNvSpPr txBox="1">
            <a:spLocks noGrp="1"/>
          </p:cNvSpPr>
          <p:nvPr>
            <p:ph type="body" idx="1"/>
          </p:nvPr>
        </p:nvSpPr>
        <p:spPr>
          <a:xfrm>
            <a:off x="258267" y="1076959"/>
            <a:ext cx="8494395" cy="4976362"/>
          </a:xfrm>
          <a:prstGeom prst="rect">
            <a:avLst/>
          </a:prstGeom>
        </p:spPr>
        <p:txBody>
          <a:bodyPr vert="horz" wrap="square" lIns="0" tIns="13335" rIns="0" bIns="0" rtlCol="0">
            <a:spAutoFit/>
          </a:bodyPr>
          <a:lstStyle/>
          <a:p>
            <a:pPr marL="12700" marR="122555">
              <a:spcBef>
                <a:spcPts val="105"/>
              </a:spcBef>
            </a:pPr>
            <a:r>
              <a:rPr lang="en-US" dirty="0"/>
              <a:t>In the future, this study can be extended by applying advanced machine learning techniques such as Random Forest and Neural Networks to improve prediction accuracy. The use of larger and more diverse datasets from multiple industries can further enhance the reliability of results. Additionally, integrating cloud computing with emerging technologies like Artificial Intelligence and IoT can provide deeper insights into smart business systems. Real-time data analysis and cloud monitoring can also be explored to better understand dynamic business environments.</a:t>
            </a:r>
          </a:p>
          <a:p>
            <a:pPr marL="12700" marR="122555">
              <a:spcBef>
                <a:spcPts val="105"/>
              </a:spcBef>
            </a:pPr>
            <a:endParaRPr lang="en-US" dirty="0"/>
          </a:p>
          <a:p>
            <a:pPr marL="12700" marR="122555">
              <a:spcBef>
                <a:spcPts val="105"/>
              </a:spcBef>
            </a:pPr>
            <a:r>
              <a:rPr lang="en-US" dirty="0"/>
              <a:t>Furthermore, the study highlights that cloud computing enables organizations to respond quickly to changing market demands by providing scalable and flexible infrastructure. It also reduces dependency on physical resources and enhances decision-making through better data accessibility. The findings reinforce that cloud adoption supports digital transformation and helps organizations remain competitive in a rapidly evolving technological environment.</a:t>
            </a:r>
            <a:endParaRPr lang="en-IN" dirty="0"/>
          </a:p>
          <a:p>
            <a:pPr marL="12700" marR="122555">
              <a:spcBef>
                <a:spcPts val="105"/>
              </a:spcBef>
            </a:pP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6222" rIns="0" bIns="0" rtlCol="0">
            <a:spAutoFit/>
          </a:bodyPr>
          <a:lstStyle/>
          <a:p>
            <a:pPr marL="335915">
              <a:lnSpc>
                <a:spcPct val="100000"/>
              </a:lnSpc>
              <a:spcBef>
                <a:spcPts val="100"/>
              </a:spcBef>
            </a:pPr>
            <a:r>
              <a:rPr spc="-10" dirty="0"/>
              <a:t>References</a:t>
            </a:r>
          </a:p>
        </p:txBody>
      </p:sp>
      <p:sp>
        <p:nvSpPr>
          <p:cNvPr id="3" name="object 3"/>
          <p:cNvSpPr txBox="1"/>
          <p:nvPr/>
        </p:nvSpPr>
        <p:spPr>
          <a:xfrm>
            <a:off x="186334" y="1093723"/>
            <a:ext cx="3670935" cy="289823"/>
          </a:xfrm>
          <a:prstGeom prst="rect">
            <a:avLst/>
          </a:prstGeom>
        </p:spPr>
        <p:txBody>
          <a:bodyPr vert="horz" wrap="square" lIns="0" tIns="12700" rIns="0" bIns="0" rtlCol="0">
            <a:spAutoFit/>
          </a:bodyPr>
          <a:lstStyle/>
          <a:p>
            <a:pPr marL="12065" marR="5080">
              <a:lnSpc>
                <a:spcPct val="100000"/>
              </a:lnSpc>
              <a:spcBef>
                <a:spcPts val="100"/>
              </a:spcBef>
              <a:tabLst>
                <a:tab pos="299085" algn="l"/>
                <a:tab pos="1446530" algn="l"/>
              </a:tabLst>
            </a:pPr>
            <a:endParaRPr sz="1800" dirty="0">
              <a:latin typeface="Times New Roman"/>
              <a:cs typeface="Times New Roman"/>
            </a:endParaRPr>
          </a:p>
        </p:txBody>
      </p:sp>
      <p:sp>
        <p:nvSpPr>
          <p:cNvPr id="4" name="object 4"/>
          <p:cNvSpPr txBox="1"/>
          <p:nvPr/>
        </p:nvSpPr>
        <p:spPr>
          <a:xfrm>
            <a:off x="186334" y="811004"/>
            <a:ext cx="8771332" cy="5796459"/>
          </a:xfrm>
          <a:prstGeom prst="rect">
            <a:avLst/>
          </a:prstGeom>
        </p:spPr>
        <p:txBody>
          <a:bodyPr vert="horz" wrap="square" lIns="0" tIns="12700" rIns="0" bIns="0" rtlCol="0">
            <a:spAutoFit/>
          </a:bodyPr>
          <a:lstStyle/>
          <a:p>
            <a:pPr marL="285750" lvl="0" indent="-285750">
              <a:lnSpc>
                <a:spcPct val="150000"/>
              </a:lnSpc>
              <a:buFont typeface="Wingdings" panose="05000000000000000000" pitchFamily="2" charset="2"/>
              <a:buChar char="§"/>
            </a:pPr>
            <a:r>
              <a:rPr lang="en-IN" sz="1700" dirty="0">
                <a:latin typeface="Times New Roman" panose="02020603050405020304" pitchFamily="18" charset="0"/>
                <a:cs typeface="Times New Roman" panose="02020603050405020304" pitchFamily="18" charset="0"/>
              </a:rPr>
              <a:t>Mell, P., Grance, T.: </a:t>
            </a:r>
            <a:r>
              <a:rPr lang="en-IN" sz="1700" i="1" dirty="0">
                <a:latin typeface="Times New Roman" panose="02020603050405020304" pitchFamily="18" charset="0"/>
                <a:cs typeface="Times New Roman" panose="02020603050405020304" pitchFamily="18" charset="0"/>
              </a:rPr>
              <a:t>The NIST Definition of Cloud Computing</a:t>
            </a:r>
            <a:r>
              <a:rPr lang="en-IN" sz="1700" dirty="0">
                <a:latin typeface="Times New Roman" panose="02020603050405020304" pitchFamily="18" charset="0"/>
                <a:cs typeface="Times New Roman" panose="02020603050405020304" pitchFamily="18" charset="0"/>
              </a:rPr>
              <a:t>. National Institute of Standards and Technology (NIST), U.S. Department of Commerce (2011)</a:t>
            </a:r>
          </a:p>
          <a:p>
            <a:pPr marL="285750" lvl="0" indent="-285750">
              <a:buFont typeface="Wingdings" panose="05000000000000000000" pitchFamily="2" charset="2"/>
              <a:buChar char="§"/>
            </a:pPr>
            <a:r>
              <a:rPr lang="en-IN" sz="1700" dirty="0">
                <a:latin typeface="Times New Roman" panose="02020603050405020304" pitchFamily="18" charset="0"/>
                <a:cs typeface="Times New Roman" panose="02020603050405020304" pitchFamily="18" charset="0"/>
              </a:rPr>
              <a:t>Armbrust, M., Fox, A., Griffith, R., et al.: </a:t>
            </a:r>
            <a:r>
              <a:rPr lang="en-IN" sz="1700" i="1" dirty="0">
                <a:latin typeface="Times New Roman" panose="02020603050405020304" pitchFamily="18" charset="0"/>
                <a:cs typeface="Times New Roman" panose="02020603050405020304" pitchFamily="18" charset="0"/>
              </a:rPr>
              <a:t>A View of Cloud Computing</a:t>
            </a:r>
            <a:r>
              <a:rPr lang="en-IN" sz="1700" dirty="0">
                <a:latin typeface="Times New Roman" panose="02020603050405020304" pitchFamily="18" charset="0"/>
                <a:cs typeface="Times New Roman" panose="02020603050405020304" pitchFamily="18" charset="0"/>
              </a:rPr>
              <a:t>. Communications of the ACM </a:t>
            </a:r>
            <a:r>
              <a:rPr lang="en-IN" sz="1700" b="1" dirty="0">
                <a:latin typeface="Times New Roman" panose="02020603050405020304" pitchFamily="18" charset="0"/>
                <a:cs typeface="Times New Roman" panose="02020603050405020304" pitchFamily="18" charset="0"/>
              </a:rPr>
              <a:t>53</a:t>
            </a:r>
            <a:r>
              <a:rPr lang="en-IN" sz="1700" dirty="0">
                <a:latin typeface="Times New Roman" panose="02020603050405020304" pitchFamily="18" charset="0"/>
                <a:cs typeface="Times New Roman" panose="02020603050405020304" pitchFamily="18" charset="0"/>
              </a:rPr>
              <a:t>(4), 50–58 (2010).</a:t>
            </a:r>
          </a:p>
          <a:p>
            <a:pPr marL="285750" lvl="0" indent="-285750">
              <a:buFont typeface="Wingdings" panose="05000000000000000000" pitchFamily="2" charset="2"/>
              <a:buChar char="§"/>
            </a:pPr>
            <a:endParaRPr lang="en-IN" sz="1700" dirty="0"/>
          </a:p>
          <a:p>
            <a:pPr marL="285750" lvl="0" indent="-285750">
              <a:buFont typeface="Wingdings" panose="05000000000000000000" pitchFamily="2" charset="2"/>
              <a:buChar char="§"/>
            </a:pPr>
            <a:r>
              <a:rPr lang="en-IN" sz="1700" dirty="0">
                <a:latin typeface="Times New Roman" panose="02020603050405020304" pitchFamily="18" charset="0"/>
                <a:cs typeface="Times New Roman" panose="02020603050405020304" pitchFamily="18" charset="0"/>
              </a:rPr>
              <a:t>CXO Content: </a:t>
            </a:r>
            <a:r>
              <a:rPr lang="en-IN" sz="1700" i="1" dirty="0">
                <a:latin typeface="Times New Roman" panose="02020603050405020304" pitchFamily="18" charset="0"/>
                <a:cs typeface="Times New Roman" panose="02020603050405020304" pitchFamily="18" charset="0"/>
              </a:rPr>
              <a:t>Evolution and the Future of Cloud Computing</a:t>
            </a:r>
            <a:r>
              <a:rPr lang="en-IN" sz="1700" dirty="0">
                <a:latin typeface="Times New Roman" panose="02020603050405020304" pitchFamily="18" charset="0"/>
                <a:cs typeface="Times New Roman" panose="02020603050405020304" pitchFamily="18" charset="0"/>
              </a:rPr>
              <a:t> [Internet]. Available at: </a:t>
            </a:r>
            <a:r>
              <a:rPr lang="en-IN" sz="1700" u="sng" dirty="0">
                <a:latin typeface="Times New Roman" panose="02020603050405020304" pitchFamily="18" charset="0"/>
                <a:cs typeface="Times New Roman" panose="02020603050405020304" pitchFamily="18" charset="0"/>
                <a:hlinkClick r:id="rId2"/>
              </a:rPr>
              <a:t>https://cxocontent.com/future-of-cloud-computing-inception-to-edge-computing/</a:t>
            </a:r>
            <a:r>
              <a:rPr lang="en-IN" sz="1700" dirty="0">
                <a:latin typeface="Times New Roman" panose="02020603050405020304" pitchFamily="18" charset="0"/>
                <a:cs typeface="Times New Roman" panose="02020603050405020304" pitchFamily="18" charset="0"/>
              </a:rPr>
              <a:t> (2021). Accessed 2026.</a:t>
            </a:r>
          </a:p>
          <a:p>
            <a:pPr marL="285750" lvl="0" indent="-285750">
              <a:buFont typeface="Wingdings" panose="05000000000000000000" pitchFamily="2" charset="2"/>
              <a:buChar char="§"/>
            </a:pPr>
            <a:endParaRPr lang="en-IN" sz="1700"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
            </a:pPr>
            <a:r>
              <a:rPr lang="en-IN" sz="1700" dirty="0">
                <a:latin typeface="Times New Roman" panose="02020603050405020304" pitchFamily="18" charset="0"/>
                <a:cs typeface="Times New Roman" panose="02020603050405020304" pitchFamily="18" charset="0"/>
              </a:rPr>
              <a:t>Wikipedia: </a:t>
            </a:r>
            <a:r>
              <a:rPr lang="en-IN" sz="1700" i="1" dirty="0">
                <a:latin typeface="Times New Roman" panose="02020603050405020304" pitchFamily="18" charset="0"/>
                <a:cs typeface="Times New Roman" panose="02020603050405020304" pitchFamily="18" charset="0"/>
              </a:rPr>
              <a:t>Cloud Computing</a:t>
            </a:r>
            <a:r>
              <a:rPr lang="en-IN" sz="1700" dirty="0">
                <a:latin typeface="Times New Roman" panose="02020603050405020304" pitchFamily="18" charset="0"/>
                <a:cs typeface="Times New Roman" panose="02020603050405020304" pitchFamily="18" charset="0"/>
              </a:rPr>
              <a:t> [Internet]. Wikimedia Foundation. Available at: </a:t>
            </a:r>
            <a:r>
              <a:rPr lang="en-IN" sz="1700" u="sng" dirty="0">
                <a:latin typeface="Times New Roman" panose="02020603050405020304" pitchFamily="18" charset="0"/>
                <a:cs typeface="Times New Roman" panose="02020603050405020304" pitchFamily="18" charset="0"/>
                <a:hlinkClick r:id="rId3"/>
              </a:rPr>
              <a:t>https://en.m.wikipedia.org/wiki/Cloud_computing</a:t>
            </a:r>
            <a:r>
              <a:rPr lang="en-IN" sz="1700" dirty="0">
                <a:latin typeface="Times New Roman" panose="02020603050405020304" pitchFamily="18" charset="0"/>
                <a:cs typeface="Times New Roman" panose="02020603050405020304" pitchFamily="18" charset="0"/>
              </a:rPr>
              <a:t> (2022). Accessed 2026</a:t>
            </a:r>
          </a:p>
          <a:p>
            <a:pPr marL="285750" lvl="0" indent="-285750">
              <a:buFont typeface="Wingdings" panose="05000000000000000000" pitchFamily="2" charset="2"/>
              <a:buChar char="§"/>
            </a:pPr>
            <a:endParaRPr lang="en-IN" sz="1700"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
            </a:pPr>
            <a:r>
              <a:rPr lang="en-IN" sz="1700" dirty="0">
                <a:latin typeface="Times New Roman" panose="02020603050405020304" pitchFamily="18" charset="0"/>
                <a:cs typeface="Times New Roman" panose="02020603050405020304" pitchFamily="18" charset="0"/>
              </a:rPr>
              <a:t>Tutorials Point: </a:t>
            </a:r>
            <a:r>
              <a:rPr lang="en-IN" sz="1700" i="1" dirty="0">
                <a:latin typeface="Times New Roman" panose="02020603050405020304" pitchFamily="18" charset="0"/>
                <a:cs typeface="Times New Roman" panose="02020603050405020304" pitchFamily="18" charset="0"/>
              </a:rPr>
              <a:t>Cloud Computing Challenges</a:t>
            </a:r>
            <a:r>
              <a:rPr lang="en-IN" sz="1700" dirty="0">
                <a:latin typeface="Times New Roman" panose="02020603050405020304" pitchFamily="18" charset="0"/>
                <a:cs typeface="Times New Roman" panose="02020603050405020304" pitchFamily="18" charset="0"/>
              </a:rPr>
              <a:t> [Internet]. Available at: </a:t>
            </a:r>
            <a:r>
              <a:rPr lang="en-IN" sz="1700" u="sng" dirty="0">
                <a:latin typeface="Times New Roman" panose="02020603050405020304" pitchFamily="18" charset="0"/>
                <a:cs typeface="Times New Roman" panose="02020603050405020304" pitchFamily="18" charset="0"/>
                <a:hlinkClick r:id="rId4"/>
              </a:rPr>
              <a:t>https://www.tutorialspoint.com/cloud_computing/cloud_computing_challenges.htm</a:t>
            </a:r>
            <a:r>
              <a:rPr lang="en-IN" sz="1700" dirty="0">
                <a:latin typeface="Times New Roman" panose="02020603050405020304" pitchFamily="18" charset="0"/>
                <a:cs typeface="Times New Roman" panose="02020603050405020304" pitchFamily="18" charset="0"/>
              </a:rPr>
              <a:t> (2022). Accessed 2026</a:t>
            </a:r>
          </a:p>
          <a:p>
            <a:pPr marL="285750" lvl="0" indent="-285750">
              <a:buFont typeface="Wingdings" panose="05000000000000000000" pitchFamily="2" charset="2"/>
              <a:buChar char="§"/>
            </a:pPr>
            <a:r>
              <a:rPr lang="en-IN" sz="1700" dirty="0">
                <a:latin typeface="Times New Roman" panose="02020603050405020304" pitchFamily="18" charset="0"/>
                <a:cs typeface="Times New Roman" panose="02020603050405020304" pitchFamily="18" charset="0"/>
              </a:rPr>
              <a:t>SWZD: </a:t>
            </a:r>
            <a:r>
              <a:rPr lang="en-IN" sz="1700" i="1" dirty="0">
                <a:latin typeface="Times New Roman" panose="02020603050405020304" pitchFamily="18" charset="0"/>
                <a:cs typeface="Times New Roman" panose="02020603050405020304" pitchFamily="18" charset="0"/>
              </a:rPr>
              <a:t>Cloud Trends in 2021 and Beyond: Remote Work Drives Adoption</a:t>
            </a:r>
            <a:r>
              <a:rPr lang="en-IN" sz="1700" dirty="0">
                <a:latin typeface="Times New Roman" panose="02020603050405020304" pitchFamily="18" charset="0"/>
                <a:cs typeface="Times New Roman" panose="02020603050405020304" pitchFamily="18" charset="0"/>
              </a:rPr>
              <a:t> [Internet]. Available at: </a:t>
            </a:r>
            <a:r>
              <a:rPr lang="en-IN" sz="1700" u="sng" dirty="0">
                <a:latin typeface="Times New Roman" panose="02020603050405020304" pitchFamily="18" charset="0"/>
                <a:cs typeface="Times New Roman" panose="02020603050405020304" pitchFamily="18" charset="0"/>
                <a:hlinkClick r:id="rId5"/>
              </a:rPr>
              <a:t>https://swzd.com/resources/cloud-trends/</a:t>
            </a:r>
            <a:r>
              <a:rPr lang="en-IN" sz="1700" dirty="0">
                <a:latin typeface="Times New Roman" panose="02020603050405020304" pitchFamily="18" charset="0"/>
                <a:cs typeface="Times New Roman" panose="02020603050405020304" pitchFamily="18" charset="0"/>
              </a:rPr>
              <a:t> (2021). Accessed 2026</a:t>
            </a:r>
          </a:p>
          <a:p>
            <a:pPr lvl="0"/>
            <a:endParaRPr lang="en-IN" sz="1700"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
            </a:pPr>
            <a:r>
              <a:rPr lang="en-IN" sz="1700" dirty="0" err="1">
                <a:latin typeface="Times New Roman" panose="02020603050405020304" pitchFamily="18" charset="0"/>
                <a:cs typeface="Times New Roman" panose="02020603050405020304" pitchFamily="18" charset="0"/>
              </a:rPr>
              <a:t>Rapyder</a:t>
            </a:r>
            <a:r>
              <a:rPr lang="en-IN" sz="1700" dirty="0">
                <a:latin typeface="Times New Roman" panose="02020603050405020304" pitchFamily="18" charset="0"/>
                <a:cs typeface="Times New Roman" panose="02020603050405020304" pitchFamily="18" charset="0"/>
              </a:rPr>
              <a:t>: </a:t>
            </a:r>
            <a:r>
              <a:rPr lang="en-IN" sz="1700" i="1" dirty="0">
                <a:latin typeface="Times New Roman" panose="02020603050405020304" pitchFamily="18" charset="0"/>
                <a:cs typeface="Times New Roman" panose="02020603050405020304" pitchFamily="18" charset="0"/>
              </a:rPr>
              <a:t>What is Disaster Recovery &amp; Its Importance for Business</a:t>
            </a:r>
            <a:r>
              <a:rPr lang="en-IN" sz="1700" dirty="0">
                <a:latin typeface="Times New Roman" panose="02020603050405020304" pitchFamily="18" charset="0"/>
                <a:cs typeface="Times New Roman" panose="02020603050405020304" pitchFamily="18" charset="0"/>
              </a:rPr>
              <a:t> [Internet].Available at: </a:t>
            </a:r>
            <a:r>
              <a:rPr lang="en-IN" sz="1700" u="sng" dirty="0">
                <a:latin typeface="Times New Roman" panose="02020603050405020304" pitchFamily="18" charset="0"/>
                <a:cs typeface="Times New Roman" panose="02020603050405020304" pitchFamily="18" charset="0"/>
                <a:hlinkClick r:id="rId6"/>
              </a:rPr>
              <a:t>https://www.rapyder.com/blog/disaster-recovery-in-cloud-computing/</a:t>
            </a:r>
            <a:r>
              <a:rPr lang="en-IN" sz="1700" dirty="0">
                <a:latin typeface="Times New Roman" panose="02020603050405020304" pitchFamily="18" charset="0"/>
                <a:cs typeface="Times New Roman" panose="02020603050405020304" pitchFamily="18" charset="0"/>
              </a:rPr>
              <a:t> Accessed 2026</a:t>
            </a:r>
            <a:endParaRPr lang="en-IN" sz="1800" dirty="0"/>
          </a:p>
          <a:p>
            <a:pPr marL="12700">
              <a:lnSpc>
                <a:spcPct val="100000"/>
              </a:lnSpc>
              <a:spcBef>
                <a:spcPts val="100"/>
              </a:spcBef>
              <a:tabLst>
                <a:tab pos="260985" algn="l"/>
                <a:tab pos="1139825" algn="l"/>
                <a:tab pos="2672080" algn="l"/>
                <a:tab pos="3112770" algn="l"/>
                <a:tab pos="4123054" algn="l"/>
                <a:tab pos="4473575" algn="l"/>
              </a:tabLst>
            </a:pPr>
            <a:endParaRPr sz="1800" dirty="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TotalTime>
  <Words>1132</Words>
  <Application>Microsoft Office PowerPoint</Application>
  <PresentationFormat>On-screen Show (4:3)</PresentationFormat>
  <Paragraphs>74</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Calibri</vt:lpstr>
      <vt:lpstr>Times New Roman</vt:lpstr>
      <vt:lpstr>Wingdings</vt:lpstr>
      <vt:lpstr>Office Theme</vt:lpstr>
      <vt:lpstr>PowerPoint Presentation</vt:lpstr>
      <vt:lpstr>Table of Contents</vt:lpstr>
      <vt:lpstr>Introduction</vt:lpstr>
      <vt:lpstr>Problem Statement</vt:lpstr>
      <vt:lpstr>Methodology</vt:lpstr>
      <vt:lpstr>Tools and Technologies</vt:lpstr>
      <vt:lpstr>Finding and Outcomes</vt:lpstr>
      <vt:lpstr>Code Snippets</vt:lpstr>
      <vt:lpstr>Code Snippets</vt:lpstr>
      <vt:lpstr>Code Snippets</vt:lpstr>
      <vt:lpstr>Conclusion and Future Scope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Cricket</dc:title>
  <dc:creator>abc</dc:creator>
  <cp:lastModifiedBy>Pratham Bajaj</cp:lastModifiedBy>
  <cp:revision>3</cp:revision>
  <dcterms:created xsi:type="dcterms:W3CDTF">2025-04-23T12:42:48Z</dcterms:created>
  <dcterms:modified xsi:type="dcterms:W3CDTF">2026-04-30T07:25:13Z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2025-03-07T00:00:00Z</vt:filetime>
  </property>
  <property fmtid="{D5CDD505-2E9C-101B-9397-08002B2CF9AE}" pid="3" name="Creator">
    <vt:lpwstr>Microsoft® PowerPoint® 2021</vt:lpwstr>
  </property>
  <property fmtid="{D5CDD505-2E9C-101B-9397-08002B2CF9AE}" pid="4" name="LastSaved">
    <vt:filetime>2025-04-23T00:00:00Z</vt:filetime>
  </property>
  <property fmtid="{D5CDD505-2E9C-101B-9397-08002B2CF9AE}" pid="5" name="Producer">
    <vt:lpwstr>Microsoft® PowerPoint® 2021</vt:lpwstr>
  </property>
</Properties>
</file>